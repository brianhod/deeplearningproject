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9"/>
  </p:notesMasterIdLst>
  <p:handoutMasterIdLst>
    <p:handoutMasterId r:id="rId10"/>
  </p:handoutMasterIdLst>
  <p:sldIdLst>
    <p:sldId id="257" r:id="rId2"/>
    <p:sldId id="258" r:id="rId3"/>
    <p:sldId id="259" r:id="rId4"/>
    <p:sldId id="260" r:id="rId5"/>
    <p:sldId id="261" r:id="rId6"/>
    <p:sldId id="262" r:id="rId7"/>
    <p:sldId id="264" r:id="rId8"/>
  </p:sldIdLst>
  <p:sldSz cx="12192000" cy="6858000"/>
  <p:notesSz cx="6858000" cy="9144000"/>
  <p:defaultTextStyle>
    <a:defPPr rtl="0">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3" d="100"/>
          <a:sy n="63" d="100"/>
        </p:scale>
        <p:origin x="696" y="78"/>
      </p:cViewPr>
      <p:guideLst/>
    </p:cSldViewPr>
  </p:slideViewPr>
  <p:notesTextViewPr>
    <p:cViewPr>
      <p:scale>
        <a:sx n="1" d="1"/>
        <a:sy n="1" d="1"/>
      </p:scale>
      <p:origin x="0" y="0"/>
    </p:cViewPr>
  </p:notesTextViewPr>
  <p:notesViewPr>
    <p:cSldViewPr snapToGrid="0">
      <p:cViewPr varScale="1">
        <p:scale>
          <a:sx n="120" d="100"/>
          <a:sy n="120" d="100"/>
        </p:scale>
        <p:origin x="5040"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Datumsplatzhalt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764ED9EE-8F2A-4E06-87A2-36C0DD0993FD}" type="datetime1">
              <a:rPr lang="de-DE" smtClean="0"/>
              <a:t>06.11.2024</a:t>
            </a:fld>
            <a:endParaRPr lang="en-US" dirty="0"/>
          </a:p>
        </p:txBody>
      </p:sp>
      <p:sp>
        <p:nvSpPr>
          <p:cNvPr id="4" name="Fußzeilenplatzhalt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5" name="Foliennummernplatzhalt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975D426-A9DD-4244-A2CE-1FB6623742C7}" type="slidenum">
              <a:rPr lang="en-US" smtClean="0"/>
              <a:t>‹#›</a:t>
            </a:fld>
            <a:endParaRPr lang="en-US"/>
          </a:p>
        </p:txBody>
      </p:sp>
    </p:spTree>
    <p:extLst>
      <p:ext uri="{BB962C8B-B14F-4D97-AF65-F5344CB8AC3E}">
        <p14:creationId xmlns:p14="http://schemas.microsoft.com/office/powerpoint/2010/main" val="882484457"/>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A5A5ADE8-1FB8-43FD-A675-2B613EE00B6F}" type="datetime1">
              <a:rPr lang="de-DE" smtClean="0"/>
              <a:t>06.11.2024</a:t>
            </a:fld>
            <a:endParaRPr lang="en-US"/>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de"/>
              <a:t>Textmasterformate durch Klicken bearbeiten</a:t>
            </a:r>
            <a:endParaRPr lang="en-US"/>
          </a:p>
          <a:p>
            <a:pPr lvl="1" rtl="0"/>
            <a:r>
              <a:rPr lang="de"/>
              <a:t>Zweite Ebene</a:t>
            </a:r>
          </a:p>
          <a:p>
            <a:pPr lvl="2" rtl="0"/>
            <a:r>
              <a:rPr lang="de"/>
              <a:t>Dritte Ebene</a:t>
            </a:r>
          </a:p>
          <a:p>
            <a:pPr lvl="3" rtl="0"/>
            <a:r>
              <a:rPr lang="de"/>
              <a:t>Vierte Ebene</a:t>
            </a:r>
          </a:p>
          <a:p>
            <a:pPr lvl="4" rtl="0"/>
            <a:r>
              <a:rPr lang="de"/>
              <a:t>Fünfte Ebene</a:t>
            </a:r>
            <a:endParaRPr lang="en-US"/>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01B41D33-19C8-4450-B3C5-BE83E9C8F0BC}" type="slidenum">
              <a:rPr lang="en-US" smtClean="0"/>
              <a:t>‹#›</a:t>
            </a:fld>
            <a:endParaRPr lang="en-US"/>
          </a:p>
        </p:txBody>
      </p:sp>
    </p:spTree>
    <p:extLst>
      <p:ext uri="{BB962C8B-B14F-4D97-AF65-F5344CB8AC3E}">
        <p14:creationId xmlns:p14="http://schemas.microsoft.com/office/powerpoint/2010/main" val="3571455252"/>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7" name="Rechteck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el 1"/>
          <p:cNvSpPr>
            <a:spLocks noGrp="1"/>
          </p:cNvSpPr>
          <p:nvPr>
            <p:ph type="ctrTitle"/>
          </p:nvPr>
        </p:nvSpPr>
        <p:spPr>
          <a:xfrm>
            <a:off x="581191" y="1020431"/>
            <a:ext cx="10993549" cy="1475013"/>
          </a:xfrm>
          <a:effectLst/>
        </p:spPr>
        <p:txBody>
          <a:bodyPr rtlCol="0" anchor="b">
            <a:normAutofit/>
          </a:bodyPr>
          <a:lstStyle>
            <a:lvl1pPr>
              <a:defRPr sz="3600">
                <a:solidFill>
                  <a:schemeClr val="tx1">
                    <a:lumMod val="75000"/>
                    <a:lumOff val="25000"/>
                  </a:schemeClr>
                </a:solidFill>
              </a:defRPr>
            </a:lvl1pPr>
          </a:lstStyle>
          <a:p>
            <a:pPr rtl="0"/>
            <a:r>
              <a:rPr lang="en-GB"/>
              <a:t>Click to edit Master title style</a:t>
            </a:r>
            <a:endParaRPr lang="en-US" dirty="0"/>
          </a:p>
        </p:txBody>
      </p:sp>
      <p:sp>
        <p:nvSpPr>
          <p:cNvPr id="3" name="Untertitel 2"/>
          <p:cNvSpPr>
            <a:spLocks noGrp="1"/>
          </p:cNvSpPr>
          <p:nvPr>
            <p:ph type="subTitle" idx="1"/>
          </p:nvPr>
        </p:nvSpPr>
        <p:spPr>
          <a:xfrm>
            <a:off x="581194" y="2495445"/>
            <a:ext cx="10993546" cy="590321"/>
          </a:xfrm>
        </p:spPr>
        <p:txBody>
          <a:bodyPr rtlCol="0"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en-GB"/>
              <a:t>Click to edit Master subtitle style</a:t>
            </a:r>
            <a:endParaRPr lang="en-US" dirty="0"/>
          </a:p>
        </p:txBody>
      </p:sp>
      <p:sp>
        <p:nvSpPr>
          <p:cNvPr id="8" name="Datumsplatzhalter 7">
            <a:extLst>
              <a:ext uri="{FF2B5EF4-FFF2-40B4-BE49-F238E27FC236}">
                <a16:creationId xmlns:a16="http://schemas.microsoft.com/office/drawing/2014/main" id="{7FA0ACE7-29A8-47D3-A7D9-257B711D8023}"/>
              </a:ext>
            </a:extLst>
          </p:cNvPr>
          <p:cNvSpPr>
            <a:spLocks noGrp="1"/>
          </p:cNvSpPr>
          <p:nvPr>
            <p:ph type="dt" sz="half" idx="10"/>
          </p:nvPr>
        </p:nvSpPr>
        <p:spPr/>
        <p:txBody>
          <a:bodyPr rtlCol="0"/>
          <a:lstStyle/>
          <a:p>
            <a:pPr rtl="0"/>
            <a:fld id="{81E9C95E-BEF0-4D2E-9127-B9099B238D2A}" type="datetime1">
              <a:rPr lang="de-DE" smtClean="0"/>
              <a:t>06.11.2024</a:t>
            </a:fld>
            <a:endParaRPr lang="en-US" dirty="0"/>
          </a:p>
        </p:txBody>
      </p:sp>
      <p:sp>
        <p:nvSpPr>
          <p:cNvPr id="9" name="Fußzeilenplatzhalt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rtlCol="0"/>
          <a:lstStyle/>
          <a:p>
            <a:pPr rtl="0"/>
            <a:endParaRPr lang="en-US" dirty="0"/>
          </a:p>
        </p:txBody>
      </p:sp>
      <p:sp>
        <p:nvSpPr>
          <p:cNvPr id="10" name="Foliennummernplatzhalt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581192" y="702156"/>
            <a:ext cx="11029616" cy="1188720"/>
          </a:xfrm>
        </p:spPr>
        <p:txBody>
          <a:bodyPr rtlCol="0"/>
          <a:lstStyle/>
          <a:p>
            <a:pPr rtl="0"/>
            <a:r>
              <a:rPr lang="en-GB"/>
              <a:t>Click to edit Master title style</a:t>
            </a:r>
            <a:endParaRPr lang="en-US" dirty="0"/>
          </a:p>
        </p:txBody>
      </p:sp>
      <p:sp>
        <p:nvSpPr>
          <p:cNvPr id="3" name="Inhaltsplatzhalter 2"/>
          <p:cNvSpPr>
            <a:spLocks noGrp="1"/>
          </p:cNvSpPr>
          <p:nvPr>
            <p:ph idx="1"/>
          </p:nvPr>
        </p:nvSpPr>
        <p:spPr>
          <a:xfrm>
            <a:off x="581192" y="2340864"/>
            <a:ext cx="11029615" cy="3634486"/>
          </a:xfrm>
        </p:spPr>
        <p:txBody>
          <a:bodyPr rtlCol="0"/>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US" dirty="0"/>
          </a:p>
        </p:txBody>
      </p:sp>
      <p:sp>
        <p:nvSpPr>
          <p:cNvPr id="8" name="Datumsplatzhalter 7">
            <a:extLst>
              <a:ext uri="{FF2B5EF4-FFF2-40B4-BE49-F238E27FC236}">
                <a16:creationId xmlns:a16="http://schemas.microsoft.com/office/drawing/2014/main" id="{770E6237-3456-439F-802D-3BA93FC7E3E5}"/>
              </a:ext>
            </a:extLst>
          </p:cNvPr>
          <p:cNvSpPr>
            <a:spLocks noGrp="1"/>
          </p:cNvSpPr>
          <p:nvPr>
            <p:ph type="dt" sz="half" idx="10"/>
          </p:nvPr>
        </p:nvSpPr>
        <p:spPr/>
        <p:txBody>
          <a:bodyPr rtlCol="0"/>
          <a:lstStyle/>
          <a:p>
            <a:pPr rtl="0"/>
            <a:fld id="{83627DD0-092D-4AD9-AAE0-0513E170352E}" type="datetime1">
              <a:rPr lang="de-DE" smtClean="0"/>
              <a:t>06.11.2024</a:t>
            </a:fld>
            <a:endParaRPr lang="en-US" dirty="0"/>
          </a:p>
        </p:txBody>
      </p:sp>
      <p:sp>
        <p:nvSpPr>
          <p:cNvPr id="9" name="Fußzeilenplatzhalt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rtlCol="0"/>
          <a:lstStyle/>
          <a:p>
            <a:pPr rtl="0"/>
            <a:endParaRPr lang="en-US" dirty="0"/>
          </a:p>
        </p:txBody>
      </p:sp>
      <p:sp>
        <p:nvSpPr>
          <p:cNvPr id="10" name="Foliennummernplatzhalt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8" name="Rechteck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el 1"/>
          <p:cNvSpPr>
            <a:spLocks noGrp="1"/>
          </p:cNvSpPr>
          <p:nvPr>
            <p:ph type="title"/>
          </p:nvPr>
        </p:nvSpPr>
        <p:spPr>
          <a:xfrm>
            <a:off x="581193" y="2393950"/>
            <a:ext cx="11029615" cy="2147467"/>
          </a:xfrm>
        </p:spPr>
        <p:txBody>
          <a:bodyPr rtlCol="0" anchor="b">
            <a:normAutofit/>
          </a:bodyPr>
          <a:lstStyle>
            <a:lvl1pPr algn="l">
              <a:defRPr sz="3600" b="0" cap="all">
                <a:solidFill>
                  <a:schemeClr val="tx1">
                    <a:lumMod val="75000"/>
                    <a:lumOff val="25000"/>
                  </a:schemeClr>
                </a:solidFill>
              </a:defRPr>
            </a:lvl1pPr>
          </a:lstStyle>
          <a:p>
            <a:pPr rtl="0"/>
            <a:r>
              <a:rPr lang="en-GB"/>
              <a:t>Click to edit Master title style</a:t>
            </a:r>
            <a:endParaRPr lang="en-US" dirty="0"/>
          </a:p>
        </p:txBody>
      </p:sp>
      <p:sp>
        <p:nvSpPr>
          <p:cNvPr id="3" name="Textplatzhalter 2"/>
          <p:cNvSpPr>
            <a:spLocks noGrp="1"/>
          </p:cNvSpPr>
          <p:nvPr>
            <p:ph type="body" idx="1"/>
          </p:nvPr>
        </p:nvSpPr>
        <p:spPr>
          <a:xfrm>
            <a:off x="581192" y="4541417"/>
            <a:ext cx="11029615" cy="600556"/>
          </a:xfrm>
        </p:spPr>
        <p:txBody>
          <a:bodyPr rtlCol="0"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n-GB"/>
              <a:t>Click to edit Master text styles</a:t>
            </a:r>
          </a:p>
        </p:txBody>
      </p:sp>
      <p:sp>
        <p:nvSpPr>
          <p:cNvPr id="7" name="Datumsplatzhalter 6">
            <a:extLst>
              <a:ext uri="{FF2B5EF4-FFF2-40B4-BE49-F238E27FC236}">
                <a16:creationId xmlns:a16="http://schemas.microsoft.com/office/drawing/2014/main" id="{61582016-5696-4A93-887F-BBB3B9002FE5}"/>
              </a:ext>
            </a:extLst>
          </p:cNvPr>
          <p:cNvSpPr>
            <a:spLocks noGrp="1"/>
          </p:cNvSpPr>
          <p:nvPr>
            <p:ph type="dt" sz="half" idx="10"/>
          </p:nvPr>
        </p:nvSpPr>
        <p:spPr/>
        <p:txBody>
          <a:bodyPr rtlCol="0"/>
          <a:lstStyle/>
          <a:p>
            <a:pPr rtl="0"/>
            <a:fld id="{F36CBEDB-B1DE-4F8C-AD4A-10AD3F77E1A9}" type="datetime1">
              <a:rPr lang="de-DE" smtClean="0"/>
              <a:t>06.11.2024</a:t>
            </a:fld>
            <a:endParaRPr lang="en-US" dirty="0"/>
          </a:p>
        </p:txBody>
      </p:sp>
      <p:sp>
        <p:nvSpPr>
          <p:cNvPr id="9" name="Fußzeilenplatzhalt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rtlCol="0"/>
          <a:lstStyle/>
          <a:p>
            <a:pPr rtl="0"/>
            <a:endParaRPr lang="en-US" dirty="0"/>
          </a:p>
        </p:txBody>
      </p:sp>
      <p:sp>
        <p:nvSpPr>
          <p:cNvPr id="10" name="Foliennummernplatzhalt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a:xfrm>
            <a:off x="581193" y="729658"/>
            <a:ext cx="11029616" cy="988332"/>
          </a:xfrm>
        </p:spPr>
        <p:txBody>
          <a:bodyPr rtlCol="0"/>
          <a:lstStyle/>
          <a:p>
            <a:pPr rtl="0"/>
            <a:r>
              <a:rPr lang="en-GB"/>
              <a:t>Click to edit Master title style</a:t>
            </a:r>
            <a:endParaRPr lang="en-US" dirty="0"/>
          </a:p>
        </p:txBody>
      </p:sp>
      <p:sp>
        <p:nvSpPr>
          <p:cNvPr id="3" name="Inhaltsplatzhalter 2"/>
          <p:cNvSpPr>
            <a:spLocks noGrp="1"/>
          </p:cNvSpPr>
          <p:nvPr>
            <p:ph sz="half" idx="1"/>
          </p:nvPr>
        </p:nvSpPr>
        <p:spPr>
          <a:xfrm>
            <a:off x="581193" y="2228003"/>
            <a:ext cx="5194767" cy="3633047"/>
          </a:xfrm>
        </p:spPr>
        <p:txBody>
          <a:bodyPr rtlCol="0">
            <a:normAutofit/>
          </a:bodyPr>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US" dirty="0"/>
          </a:p>
        </p:txBody>
      </p:sp>
      <p:sp>
        <p:nvSpPr>
          <p:cNvPr id="4" name="Inhaltsplatzhalter 3"/>
          <p:cNvSpPr>
            <a:spLocks noGrp="1"/>
          </p:cNvSpPr>
          <p:nvPr>
            <p:ph sz="half" idx="2"/>
          </p:nvPr>
        </p:nvSpPr>
        <p:spPr>
          <a:xfrm>
            <a:off x="6416039" y="2228003"/>
            <a:ext cx="5194769" cy="3633047"/>
          </a:xfrm>
        </p:spPr>
        <p:txBody>
          <a:bodyPr rtlCol="0">
            <a:normAutofit/>
          </a:bodyPr>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US" dirty="0"/>
          </a:p>
        </p:txBody>
      </p:sp>
      <p:sp>
        <p:nvSpPr>
          <p:cNvPr id="5" name="Datumsplatzhalter 4"/>
          <p:cNvSpPr>
            <a:spLocks noGrp="1"/>
          </p:cNvSpPr>
          <p:nvPr>
            <p:ph type="dt" sz="half" idx="10"/>
          </p:nvPr>
        </p:nvSpPr>
        <p:spPr/>
        <p:txBody>
          <a:bodyPr rtlCol="0"/>
          <a:lstStyle/>
          <a:p>
            <a:pPr rtl="0"/>
            <a:fld id="{F95AE019-BB99-4C3A-AA2C-A36C39CE4DCB}" type="datetime1">
              <a:rPr lang="de-DE" smtClean="0"/>
              <a:t>06.11.2024</a:t>
            </a:fld>
            <a:endParaRPr lang="en-US" dirty="0"/>
          </a:p>
        </p:txBody>
      </p:sp>
      <p:sp>
        <p:nvSpPr>
          <p:cNvPr id="6" name="Fußzeilenplatzhalter 5"/>
          <p:cNvSpPr>
            <a:spLocks noGrp="1"/>
          </p:cNvSpPr>
          <p:nvPr>
            <p:ph type="ftr" sz="quarter" idx="11"/>
          </p:nvPr>
        </p:nvSpPr>
        <p:spPr/>
        <p:txBody>
          <a:bodyPr rtlCol="0"/>
          <a:lstStyle/>
          <a:p>
            <a:pPr rtl="0"/>
            <a:endParaRPr lang="en-US" dirty="0"/>
          </a:p>
        </p:txBody>
      </p:sp>
      <p:sp>
        <p:nvSpPr>
          <p:cNvPr id="7" name="Foliennummernplatzhalter 6"/>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Vergleich">
    <p:spTree>
      <p:nvGrpSpPr>
        <p:cNvPr id="1" name=""/>
        <p:cNvGrpSpPr/>
        <p:nvPr/>
      </p:nvGrpSpPr>
      <p:grpSpPr>
        <a:xfrm>
          <a:off x="0" y="0"/>
          <a:ext cx="0" cy="0"/>
          <a:chOff x="0" y="0"/>
          <a:chExt cx="0" cy="0"/>
        </a:xfrm>
      </p:grpSpPr>
      <p:sp>
        <p:nvSpPr>
          <p:cNvPr id="12" name="Titel 1"/>
          <p:cNvSpPr>
            <a:spLocks noGrp="1"/>
          </p:cNvSpPr>
          <p:nvPr>
            <p:ph type="title"/>
          </p:nvPr>
        </p:nvSpPr>
        <p:spPr>
          <a:xfrm>
            <a:off x="581193" y="729658"/>
            <a:ext cx="11029616" cy="988332"/>
          </a:xfrm>
        </p:spPr>
        <p:txBody>
          <a:bodyPr rtlCol="0"/>
          <a:lstStyle/>
          <a:p>
            <a:pPr rtl="0"/>
            <a:r>
              <a:rPr lang="en-GB"/>
              <a:t>Click to edit Master title style</a:t>
            </a:r>
            <a:endParaRPr lang="en-US" dirty="0"/>
          </a:p>
        </p:txBody>
      </p:sp>
      <p:sp>
        <p:nvSpPr>
          <p:cNvPr id="3" name="Textplatzhalter 2"/>
          <p:cNvSpPr>
            <a:spLocks noGrp="1"/>
          </p:cNvSpPr>
          <p:nvPr>
            <p:ph type="body" idx="1"/>
          </p:nvPr>
        </p:nvSpPr>
        <p:spPr>
          <a:xfrm>
            <a:off x="581191" y="2250891"/>
            <a:ext cx="5194769" cy="557784"/>
          </a:xfrm>
        </p:spPr>
        <p:txBody>
          <a:bodyPr rtlCol="0"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a:t>Click to edit Master text styles</a:t>
            </a:r>
          </a:p>
        </p:txBody>
      </p:sp>
      <p:sp>
        <p:nvSpPr>
          <p:cNvPr id="4" name="Inhaltsplatzhalter 3"/>
          <p:cNvSpPr>
            <a:spLocks noGrp="1"/>
          </p:cNvSpPr>
          <p:nvPr>
            <p:ph sz="half" idx="2"/>
          </p:nvPr>
        </p:nvSpPr>
        <p:spPr>
          <a:xfrm>
            <a:off x="581194" y="2926052"/>
            <a:ext cx="5194766" cy="2934999"/>
          </a:xfrm>
        </p:spPr>
        <p:txBody>
          <a:bodyPr rtlCol="0" anchor="t">
            <a:normAutofit/>
          </a:bodyPr>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US" dirty="0"/>
          </a:p>
        </p:txBody>
      </p:sp>
      <p:sp>
        <p:nvSpPr>
          <p:cNvPr id="5" name="Textplatzhalter 4"/>
          <p:cNvSpPr>
            <a:spLocks noGrp="1"/>
          </p:cNvSpPr>
          <p:nvPr>
            <p:ph type="body" sz="quarter" idx="3"/>
          </p:nvPr>
        </p:nvSpPr>
        <p:spPr>
          <a:xfrm>
            <a:off x="6416039" y="2250892"/>
            <a:ext cx="5194770" cy="553373"/>
          </a:xfrm>
        </p:spPr>
        <p:txBody>
          <a:bodyPr rtlCol="0"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GB"/>
              <a:t>Click to edit Master text styles</a:t>
            </a:r>
          </a:p>
        </p:txBody>
      </p:sp>
      <p:sp>
        <p:nvSpPr>
          <p:cNvPr id="6" name="Inhaltsplatzhalter 5"/>
          <p:cNvSpPr>
            <a:spLocks noGrp="1"/>
          </p:cNvSpPr>
          <p:nvPr>
            <p:ph sz="quarter" idx="4"/>
          </p:nvPr>
        </p:nvSpPr>
        <p:spPr>
          <a:xfrm>
            <a:off x="6416037" y="2926052"/>
            <a:ext cx="5194771" cy="2934999"/>
          </a:xfrm>
        </p:spPr>
        <p:txBody>
          <a:bodyPr rtlCol="0" anchor="t">
            <a:normAutofit/>
          </a:bodyPr>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US" dirty="0"/>
          </a:p>
        </p:txBody>
      </p:sp>
      <p:sp>
        <p:nvSpPr>
          <p:cNvPr id="7" name="Datumsplatzhalter 6"/>
          <p:cNvSpPr>
            <a:spLocks noGrp="1"/>
          </p:cNvSpPr>
          <p:nvPr>
            <p:ph type="dt" sz="half" idx="10"/>
          </p:nvPr>
        </p:nvSpPr>
        <p:spPr/>
        <p:txBody>
          <a:bodyPr rtlCol="0"/>
          <a:lstStyle/>
          <a:p>
            <a:pPr rtl="0"/>
            <a:fld id="{117FAFC6-AD0C-4B5B-B8B0-E729C6D4C810}" type="datetime1">
              <a:rPr lang="de-DE" smtClean="0"/>
              <a:t>06.11.2024</a:t>
            </a:fld>
            <a:endParaRPr lang="en-US" dirty="0"/>
          </a:p>
        </p:txBody>
      </p:sp>
      <p:sp>
        <p:nvSpPr>
          <p:cNvPr id="8" name="Fußzeilenplatzhalter 7"/>
          <p:cNvSpPr>
            <a:spLocks noGrp="1"/>
          </p:cNvSpPr>
          <p:nvPr>
            <p:ph type="ftr" sz="quarter" idx="11"/>
          </p:nvPr>
        </p:nvSpPr>
        <p:spPr/>
        <p:txBody>
          <a:bodyPr rtlCol="0"/>
          <a:lstStyle/>
          <a:p>
            <a:pPr rtl="0"/>
            <a:endParaRPr lang="en-US" dirty="0"/>
          </a:p>
        </p:txBody>
      </p:sp>
      <p:sp>
        <p:nvSpPr>
          <p:cNvPr id="9" name="Foliennummernplatzhalter 8"/>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8" name="Titel 1"/>
          <p:cNvSpPr>
            <a:spLocks noGrp="1"/>
          </p:cNvSpPr>
          <p:nvPr>
            <p:ph type="title"/>
          </p:nvPr>
        </p:nvSpPr>
        <p:spPr>
          <a:xfrm>
            <a:off x="575894" y="729658"/>
            <a:ext cx="11029616" cy="988332"/>
          </a:xfrm>
        </p:spPr>
        <p:txBody>
          <a:bodyPr rtlCol="0"/>
          <a:lstStyle/>
          <a:p>
            <a:pPr rtl="0"/>
            <a:r>
              <a:rPr lang="en-GB"/>
              <a:t>Click to edit Master title style</a:t>
            </a:r>
            <a:endParaRPr lang="en-US" dirty="0"/>
          </a:p>
        </p:txBody>
      </p:sp>
      <p:sp>
        <p:nvSpPr>
          <p:cNvPr id="3" name="Datumsplatzhalter 2"/>
          <p:cNvSpPr>
            <a:spLocks noGrp="1"/>
          </p:cNvSpPr>
          <p:nvPr>
            <p:ph type="dt" sz="half" idx="10"/>
          </p:nvPr>
        </p:nvSpPr>
        <p:spPr/>
        <p:txBody>
          <a:bodyPr rtlCol="0"/>
          <a:lstStyle/>
          <a:p>
            <a:pPr rtl="0"/>
            <a:fld id="{607DEF3C-A2B0-4F78-836D-1A1B1DEE5467}" type="datetime1">
              <a:rPr lang="de-DE" smtClean="0"/>
              <a:t>06.11.2024</a:t>
            </a:fld>
            <a:endParaRPr lang="en-US" dirty="0"/>
          </a:p>
        </p:txBody>
      </p:sp>
      <p:sp>
        <p:nvSpPr>
          <p:cNvPr id="4" name="Fußzeilenplatzhalter 3"/>
          <p:cNvSpPr>
            <a:spLocks noGrp="1"/>
          </p:cNvSpPr>
          <p:nvPr>
            <p:ph type="ftr" sz="quarter" idx="11"/>
          </p:nvPr>
        </p:nvSpPr>
        <p:spPr/>
        <p:txBody>
          <a:bodyPr rtlCol="0"/>
          <a:lstStyle/>
          <a:p>
            <a:pPr rtl="0"/>
            <a:endParaRPr lang="en-US" dirty="0"/>
          </a:p>
        </p:txBody>
      </p:sp>
      <p:sp>
        <p:nvSpPr>
          <p:cNvPr id="5" name="Foliennummernplatzhalter 4"/>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rtlCol="0"/>
          <a:lstStyle/>
          <a:p>
            <a:pPr rtl="0"/>
            <a:fld id="{D971D44B-9C44-467E-B481-41466CDBD2A7}" type="datetime1">
              <a:rPr lang="de-DE" smtClean="0"/>
              <a:t>06.11.2024</a:t>
            </a:fld>
            <a:endParaRPr lang="en-US" dirty="0"/>
          </a:p>
        </p:txBody>
      </p:sp>
      <p:sp>
        <p:nvSpPr>
          <p:cNvPr id="3" name="Fußzeilenplatzhalter 2"/>
          <p:cNvSpPr>
            <a:spLocks noGrp="1"/>
          </p:cNvSpPr>
          <p:nvPr>
            <p:ph type="ftr" sz="quarter" idx="11"/>
          </p:nvPr>
        </p:nvSpPr>
        <p:spPr/>
        <p:txBody>
          <a:bodyPr rtlCol="0"/>
          <a:lstStyle/>
          <a:p>
            <a:pPr rtl="0"/>
            <a:endParaRPr lang="en-US" dirty="0"/>
          </a:p>
        </p:txBody>
      </p:sp>
      <p:sp>
        <p:nvSpPr>
          <p:cNvPr id="4" name="Foliennummernplatzhalter 3"/>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9" name="Rechteck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el 1"/>
          <p:cNvSpPr>
            <a:spLocks noGrp="1"/>
          </p:cNvSpPr>
          <p:nvPr>
            <p:ph type="title"/>
          </p:nvPr>
        </p:nvSpPr>
        <p:spPr>
          <a:xfrm>
            <a:off x="767857" y="933450"/>
            <a:ext cx="3031852" cy="1722419"/>
          </a:xfrm>
        </p:spPr>
        <p:txBody>
          <a:bodyPr rtlCol="0" anchor="b">
            <a:normAutofit/>
          </a:bodyPr>
          <a:lstStyle>
            <a:lvl1pPr algn="l">
              <a:defRPr sz="2200" b="0">
                <a:solidFill>
                  <a:srgbClr val="FFFFFF"/>
                </a:solidFill>
              </a:defRPr>
            </a:lvl1pPr>
          </a:lstStyle>
          <a:p>
            <a:pPr rtl="0"/>
            <a:r>
              <a:rPr lang="en-GB"/>
              <a:t>Click to edit Master title style</a:t>
            </a:r>
            <a:endParaRPr lang="en-US" dirty="0"/>
          </a:p>
        </p:txBody>
      </p:sp>
      <p:sp>
        <p:nvSpPr>
          <p:cNvPr id="3" name="Inhaltsplatzhalter 2"/>
          <p:cNvSpPr>
            <a:spLocks noGrp="1"/>
          </p:cNvSpPr>
          <p:nvPr>
            <p:ph idx="1"/>
          </p:nvPr>
        </p:nvSpPr>
        <p:spPr>
          <a:xfrm>
            <a:off x="4900928" y="1179829"/>
            <a:ext cx="6650991" cy="4658216"/>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US" dirty="0"/>
          </a:p>
        </p:txBody>
      </p:sp>
      <p:sp>
        <p:nvSpPr>
          <p:cNvPr id="4" name="Textplatzhalter 3"/>
          <p:cNvSpPr>
            <a:spLocks noGrp="1"/>
          </p:cNvSpPr>
          <p:nvPr>
            <p:ph type="body" sz="half" idx="2"/>
          </p:nvPr>
        </p:nvSpPr>
        <p:spPr>
          <a:xfrm>
            <a:off x="767857" y="2836654"/>
            <a:ext cx="3031852" cy="3001392"/>
          </a:xfrm>
        </p:spPr>
        <p:txBody>
          <a:bodyPr rtlCol="0"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GB"/>
              <a:t>Click to edit Master text styles</a:t>
            </a:r>
          </a:p>
        </p:txBody>
      </p:sp>
      <p:sp>
        <p:nvSpPr>
          <p:cNvPr id="8" name="Datumsplatzhalt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rtlCol="0"/>
          <a:lstStyle/>
          <a:p>
            <a:pPr rtl="0"/>
            <a:fld id="{0354EEBD-0E7F-42E6-BE86-4864547D749E}" type="datetime1">
              <a:rPr lang="de-DE" smtClean="0"/>
              <a:t>06.11.2024</a:t>
            </a:fld>
            <a:endParaRPr lang="en-US" dirty="0"/>
          </a:p>
        </p:txBody>
      </p:sp>
      <p:sp>
        <p:nvSpPr>
          <p:cNvPr id="10" name="Fußzeilenplatzhalt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rtlCol="0"/>
          <a:lstStyle/>
          <a:p>
            <a:pPr rtl="0"/>
            <a:endParaRPr lang="en-US" dirty="0"/>
          </a:p>
        </p:txBody>
      </p:sp>
      <p:sp>
        <p:nvSpPr>
          <p:cNvPr id="11" name="Foliennummernplatzhalt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rtlCol="0"/>
          <a:lstStyle/>
          <a:p>
            <a:pPr rtl="0"/>
            <a:fld id="{3A98EE3D-8CD1-4C3F-BD1C-C98C9596463C}" type="slidenum">
              <a:rPr lang="en-US" smtClean="0"/>
              <a:pPr rtl="0"/>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581193" y="4693389"/>
            <a:ext cx="11029616" cy="566738"/>
          </a:xfrm>
        </p:spPr>
        <p:txBody>
          <a:bodyPr rtlCol="0" anchor="b">
            <a:normAutofit/>
          </a:bodyPr>
          <a:lstStyle>
            <a:lvl1pPr algn="l">
              <a:defRPr sz="2400" b="0">
                <a:solidFill>
                  <a:schemeClr val="tx1">
                    <a:lumMod val="75000"/>
                    <a:lumOff val="25000"/>
                  </a:schemeClr>
                </a:solidFill>
              </a:defRPr>
            </a:lvl1pPr>
          </a:lstStyle>
          <a:p>
            <a:pPr rtl="0"/>
            <a:r>
              <a:rPr lang="en-GB"/>
              <a:t>Click to edit Master title style</a:t>
            </a:r>
            <a:endParaRPr lang="en-US" dirty="0"/>
          </a:p>
        </p:txBody>
      </p:sp>
      <p:sp>
        <p:nvSpPr>
          <p:cNvPr id="3" name="Bildplatzhalter 2"/>
          <p:cNvSpPr>
            <a:spLocks noGrp="1" noChangeAspect="1"/>
          </p:cNvSpPr>
          <p:nvPr>
            <p:ph type="pic" idx="1"/>
          </p:nvPr>
        </p:nvSpPr>
        <p:spPr>
          <a:xfrm>
            <a:off x="447817" y="641350"/>
            <a:ext cx="11290859" cy="3651249"/>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n-GB"/>
              <a:t>Click icon to add picture</a:t>
            </a:r>
            <a:endParaRPr lang="en-US" dirty="0"/>
          </a:p>
        </p:txBody>
      </p:sp>
      <p:sp>
        <p:nvSpPr>
          <p:cNvPr id="4" name="Textplatzhalter 3"/>
          <p:cNvSpPr>
            <a:spLocks noGrp="1"/>
          </p:cNvSpPr>
          <p:nvPr>
            <p:ph type="body" sz="half" idx="2"/>
          </p:nvPr>
        </p:nvSpPr>
        <p:spPr>
          <a:xfrm>
            <a:off x="581192" y="5260127"/>
            <a:ext cx="11029617" cy="998148"/>
          </a:xfrm>
        </p:spPr>
        <p:txBody>
          <a:bodyPr rtlCol="0"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GB"/>
              <a:t>Click to edit Master text styles</a:t>
            </a:r>
          </a:p>
        </p:txBody>
      </p:sp>
      <p:sp>
        <p:nvSpPr>
          <p:cNvPr id="5" name="Datumsplatzhalter 4"/>
          <p:cNvSpPr>
            <a:spLocks noGrp="1"/>
          </p:cNvSpPr>
          <p:nvPr>
            <p:ph type="dt" sz="half" idx="10"/>
          </p:nvPr>
        </p:nvSpPr>
        <p:spPr/>
        <p:txBody>
          <a:bodyPr rtlCol="0"/>
          <a:lstStyle/>
          <a:p>
            <a:pPr rtl="0"/>
            <a:fld id="{8C7274EF-79A2-4EAD-98EF-7E5BB5EA068D}" type="datetime1">
              <a:rPr lang="de-DE" smtClean="0"/>
              <a:t>06.11.2024</a:t>
            </a:fld>
            <a:endParaRPr lang="en-US" dirty="0"/>
          </a:p>
        </p:txBody>
      </p:sp>
      <p:sp>
        <p:nvSpPr>
          <p:cNvPr id="6" name="Fußzeilenplatzhalter 5"/>
          <p:cNvSpPr>
            <a:spLocks noGrp="1"/>
          </p:cNvSpPr>
          <p:nvPr>
            <p:ph type="ftr" sz="quarter" idx="11"/>
          </p:nvPr>
        </p:nvSpPr>
        <p:spPr/>
        <p:txBody>
          <a:bodyPr rtlCol="0"/>
          <a:lstStyle/>
          <a:p>
            <a:pPr algn="l" rtl="0"/>
            <a:endParaRPr lang="en-US" dirty="0"/>
          </a:p>
        </p:txBody>
      </p:sp>
      <p:sp>
        <p:nvSpPr>
          <p:cNvPr id="7" name="Foliennummernplatzhalter 6"/>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9" name="Titel 1"/>
          <p:cNvSpPr>
            <a:spLocks noGrp="1"/>
          </p:cNvSpPr>
          <p:nvPr>
            <p:ph type="title"/>
          </p:nvPr>
        </p:nvSpPr>
        <p:spPr>
          <a:xfrm>
            <a:off x="581192" y="702156"/>
            <a:ext cx="11029616" cy="1013800"/>
          </a:xfrm>
        </p:spPr>
        <p:txBody>
          <a:bodyPr rtlCol="0"/>
          <a:lstStyle/>
          <a:p>
            <a:pPr rtl="0"/>
            <a:r>
              <a:rPr lang="en-GB"/>
              <a:t>Click to edit Master title style</a:t>
            </a:r>
            <a:endParaRPr lang="en-US" dirty="0"/>
          </a:p>
        </p:txBody>
      </p:sp>
      <p:sp>
        <p:nvSpPr>
          <p:cNvPr id="3" name="Vertikaler Textplatzhalter 2"/>
          <p:cNvSpPr>
            <a:spLocks noGrp="1"/>
          </p:cNvSpPr>
          <p:nvPr>
            <p:ph type="body" orient="vert" idx="1"/>
          </p:nvPr>
        </p:nvSpPr>
        <p:spPr/>
        <p:txBody>
          <a:bodyPr vert="eaVert" rtlCol="0" anchor="t"/>
          <a:lstStyle>
            <a:lvl1pPr algn="l">
              <a:defRPr/>
            </a:lvl1pPr>
            <a:lvl2pPr algn="l">
              <a:defRPr/>
            </a:lvl2pPr>
            <a:lvl3pPr algn="l">
              <a:defRPr/>
            </a:lvl3pPr>
            <a:lvl4pPr algn="l">
              <a:defRPr/>
            </a:lvl4pPr>
            <a:lvl5pPr algn="l">
              <a:defRPr/>
            </a:lvl5pPr>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US" dirty="0"/>
          </a:p>
        </p:txBody>
      </p:sp>
      <p:sp>
        <p:nvSpPr>
          <p:cNvPr id="4" name="Datumsplatzhalter 3"/>
          <p:cNvSpPr>
            <a:spLocks noGrp="1"/>
          </p:cNvSpPr>
          <p:nvPr>
            <p:ph type="dt" sz="half" idx="10"/>
          </p:nvPr>
        </p:nvSpPr>
        <p:spPr/>
        <p:txBody>
          <a:bodyPr rtlCol="0"/>
          <a:lstStyle/>
          <a:p>
            <a:pPr rtl="0"/>
            <a:fld id="{FE771757-BB18-44C5-813E-435E78C98126}" type="datetime1">
              <a:rPr lang="de-DE" smtClean="0"/>
              <a:t>06.11.2024</a:t>
            </a:fld>
            <a:endParaRPr lang="en-US" dirty="0"/>
          </a:p>
        </p:txBody>
      </p:sp>
      <p:sp>
        <p:nvSpPr>
          <p:cNvPr id="5" name="Fußzeilenplatzhalter 4"/>
          <p:cNvSpPr>
            <a:spLocks noGrp="1"/>
          </p:cNvSpPr>
          <p:nvPr>
            <p:ph type="ftr" sz="quarter" idx="11"/>
          </p:nvPr>
        </p:nvSpPr>
        <p:spPr/>
        <p:txBody>
          <a:bodyPr rtlCol="0"/>
          <a:lstStyle/>
          <a:p>
            <a:pPr rtl="0"/>
            <a:endParaRPr lang="en-US" dirty="0"/>
          </a:p>
        </p:txBody>
      </p:sp>
      <p:sp>
        <p:nvSpPr>
          <p:cNvPr id="6" name="Foliennummernplatzhalter 5"/>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kaler Titel und Text">
    <p:spTree>
      <p:nvGrpSpPr>
        <p:cNvPr id="1" name=""/>
        <p:cNvGrpSpPr/>
        <p:nvPr/>
      </p:nvGrpSpPr>
      <p:grpSpPr>
        <a:xfrm>
          <a:off x="0" y="0"/>
          <a:ext cx="0" cy="0"/>
          <a:chOff x="0" y="0"/>
          <a:chExt cx="0" cy="0"/>
        </a:xfrm>
      </p:grpSpPr>
      <p:sp>
        <p:nvSpPr>
          <p:cNvPr id="7" name="Rechteck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kaler Titel 1"/>
          <p:cNvSpPr>
            <a:spLocks noGrp="1"/>
          </p:cNvSpPr>
          <p:nvPr>
            <p:ph type="title" orient="vert"/>
          </p:nvPr>
        </p:nvSpPr>
        <p:spPr>
          <a:xfrm>
            <a:off x="8204200" y="863600"/>
            <a:ext cx="3124200" cy="4807326"/>
          </a:xfrm>
        </p:spPr>
        <p:txBody>
          <a:bodyPr vert="eaVert" rtlCol="0" anchor="ctr"/>
          <a:lstStyle>
            <a:lvl1pPr>
              <a:defRPr>
                <a:solidFill>
                  <a:srgbClr val="FFFFFF"/>
                </a:solidFill>
              </a:defRPr>
            </a:lvl1pPr>
          </a:lstStyle>
          <a:p>
            <a:pPr rtl="0"/>
            <a:r>
              <a:rPr lang="en-GB"/>
              <a:t>Click to edit Master title style</a:t>
            </a:r>
            <a:endParaRPr lang="en-US" dirty="0"/>
          </a:p>
        </p:txBody>
      </p:sp>
      <p:sp>
        <p:nvSpPr>
          <p:cNvPr id="3" name="Vertikaler Textplatzhalter 2"/>
          <p:cNvSpPr>
            <a:spLocks noGrp="1"/>
          </p:cNvSpPr>
          <p:nvPr>
            <p:ph type="body" orient="vert" idx="1"/>
          </p:nvPr>
        </p:nvSpPr>
        <p:spPr>
          <a:xfrm>
            <a:off x="774923" y="863600"/>
            <a:ext cx="7161625" cy="4807326"/>
          </a:xfrm>
        </p:spPr>
        <p:txBody>
          <a:bodyPr vert="eaVert" rtlCol="0" anchor="t"/>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US" dirty="0"/>
          </a:p>
        </p:txBody>
      </p:sp>
      <p:sp>
        <p:nvSpPr>
          <p:cNvPr id="8" name="Rechteck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hteck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hteck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umsplatzhalter 10">
            <a:extLst>
              <a:ext uri="{FF2B5EF4-FFF2-40B4-BE49-F238E27FC236}">
                <a16:creationId xmlns:a16="http://schemas.microsoft.com/office/drawing/2014/main" id="{5C74A470-3BD3-4F33-80E5-67E6E87FCBE7}"/>
              </a:ext>
            </a:extLst>
          </p:cNvPr>
          <p:cNvSpPr>
            <a:spLocks noGrp="1"/>
          </p:cNvSpPr>
          <p:nvPr>
            <p:ph type="dt" sz="half" idx="10"/>
          </p:nvPr>
        </p:nvSpPr>
        <p:spPr/>
        <p:txBody>
          <a:bodyPr rtlCol="0"/>
          <a:lstStyle/>
          <a:p>
            <a:pPr rtl="0"/>
            <a:fld id="{B83FACD6-565C-4118-ACD0-32ACCA9AF940}" type="datetime1">
              <a:rPr lang="de-DE" smtClean="0"/>
              <a:t>06.11.2024</a:t>
            </a:fld>
            <a:endParaRPr lang="en-US" dirty="0"/>
          </a:p>
        </p:txBody>
      </p:sp>
      <p:sp>
        <p:nvSpPr>
          <p:cNvPr id="12" name="Fußzeilenplatzhalt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rtlCol="0"/>
          <a:lstStyle/>
          <a:p>
            <a:pPr rtl="0"/>
            <a:endParaRPr lang="en-US" dirty="0"/>
          </a:p>
        </p:txBody>
      </p:sp>
      <p:sp>
        <p:nvSpPr>
          <p:cNvPr id="13" name="Foliennummernplatzhalt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de"/>
              <a:t>Titelmasterformat durch Klicken bearbeiten</a:t>
            </a:r>
            <a:endParaRPr lang="en-US" dirty="0"/>
          </a:p>
        </p:txBody>
      </p:sp>
      <p:sp>
        <p:nvSpPr>
          <p:cNvPr id="3" name="Textplatzhalt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rtl="0"/>
            <a:r>
              <a:rPr lang="de"/>
              <a:t>Textmasterformate durch Klicken bearbeiten</a:t>
            </a:r>
          </a:p>
          <a:p>
            <a:pPr lvl="1" rtl="0"/>
            <a:r>
              <a:rPr lang="de"/>
              <a:t>Zweite Ebene</a:t>
            </a:r>
          </a:p>
          <a:p>
            <a:pPr lvl="2" rtl="0"/>
            <a:r>
              <a:rPr lang="de"/>
              <a:t>Dritte Ebene</a:t>
            </a:r>
          </a:p>
          <a:p>
            <a:pPr lvl="3" rtl="0"/>
            <a:r>
              <a:rPr lang="de"/>
              <a:t>Vierte Ebene</a:t>
            </a:r>
          </a:p>
          <a:p>
            <a:pPr lvl="4" rtl="0"/>
            <a:r>
              <a:rPr lang="de"/>
              <a:t>Fünfte Ebene</a:t>
            </a:r>
            <a:endParaRPr lang="en-US" dirty="0"/>
          </a:p>
        </p:txBody>
      </p:sp>
      <p:sp>
        <p:nvSpPr>
          <p:cNvPr id="4" name="Datumsplatzhalt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pPr rtl="0"/>
            <a:fld id="{EDD379EC-906B-4CE5-98C2-3A156331FD9E}" type="datetime1">
              <a:rPr lang="de-DE" smtClean="0"/>
              <a:t>06.11.2024</a:t>
            </a:fld>
            <a:endParaRPr lang="en-US" dirty="0"/>
          </a:p>
        </p:txBody>
      </p:sp>
      <p:sp>
        <p:nvSpPr>
          <p:cNvPr id="5" name="Fußzeilenplatzhalt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pPr rtl="0"/>
            <a:endParaRPr lang="en-US" dirty="0"/>
          </a:p>
        </p:txBody>
      </p:sp>
      <p:sp>
        <p:nvSpPr>
          <p:cNvPr id="6" name="Foliennummernplatzhalt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pPr rtl="0"/>
            <a:fld id="{3A98EE3D-8CD1-4C3F-BD1C-C98C9596463C}" type="slidenum">
              <a:rPr lang="en-US" smtClean="0"/>
              <a:t>‹#›</a:t>
            </a:fld>
            <a:endParaRPr lang="en-US" dirty="0"/>
          </a:p>
        </p:txBody>
      </p:sp>
      <p:sp>
        <p:nvSpPr>
          <p:cNvPr id="9" name="Rechteck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hteck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hteck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hteck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itel 1">
            <a:extLst>
              <a:ext uri="{FF2B5EF4-FFF2-40B4-BE49-F238E27FC236}">
                <a16:creationId xmlns:a16="http://schemas.microsoft.com/office/drawing/2014/main" id="{1C21E816-31F5-48BB-BD02-D15F2F18B48A}"/>
              </a:ext>
            </a:extLst>
          </p:cNvPr>
          <p:cNvSpPr>
            <a:spLocks noGrp="1"/>
          </p:cNvSpPr>
          <p:nvPr>
            <p:ph type="ctrTitle"/>
          </p:nvPr>
        </p:nvSpPr>
        <p:spPr>
          <a:xfrm>
            <a:off x="581191" y="1020431"/>
            <a:ext cx="10993549" cy="1475013"/>
          </a:xfrm>
        </p:spPr>
        <p:txBody>
          <a:bodyPr rtlCol="0">
            <a:normAutofit/>
          </a:bodyPr>
          <a:lstStyle/>
          <a:p>
            <a:pPr rtl="0"/>
            <a:r>
              <a:rPr lang="en-US" dirty="0"/>
              <a:t>S&amp;P 500 Stock Price Prediction using LSTM</a:t>
            </a:r>
            <a:r>
              <a:rPr lang="de" dirty="0"/>
              <a:t> </a:t>
            </a:r>
          </a:p>
        </p:txBody>
      </p:sp>
      <p:sp>
        <p:nvSpPr>
          <p:cNvPr id="3" name="Untertitel 2">
            <a:extLst>
              <a:ext uri="{FF2B5EF4-FFF2-40B4-BE49-F238E27FC236}">
                <a16:creationId xmlns:a16="http://schemas.microsoft.com/office/drawing/2014/main" id="{835D6E6B-3353-491C-A3C6-F278D6CED8B3}"/>
              </a:ext>
            </a:extLst>
          </p:cNvPr>
          <p:cNvSpPr>
            <a:spLocks noGrp="1"/>
          </p:cNvSpPr>
          <p:nvPr>
            <p:ph type="subTitle" idx="1"/>
          </p:nvPr>
        </p:nvSpPr>
        <p:spPr>
          <a:xfrm>
            <a:off x="581194" y="2495445"/>
            <a:ext cx="10993546" cy="468233"/>
          </a:xfrm>
        </p:spPr>
        <p:txBody>
          <a:bodyPr rtlCol="0">
            <a:normAutofit/>
          </a:bodyPr>
          <a:lstStyle/>
          <a:p>
            <a:pPr rtl="0"/>
            <a:r>
              <a:rPr lang="de" dirty="0"/>
              <a:t>B</a:t>
            </a:r>
            <a:r>
              <a:rPr lang="de-DE" dirty="0"/>
              <a:t>r</a:t>
            </a:r>
            <a:r>
              <a:rPr lang="de" dirty="0"/>
              <a:t>ian HODGSON</a:t>
            </a:r>
          </a:p>
        </p:txBody>
      </p:sp>
      <p:sp>
        <p:nvSpPr>
          <p:cNvPr id="20" name="Rechteck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hteck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hteck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pic>
        <p:nvPicPr>
          <p:cNvPr id="6" name="Bild 5" descr="Nahaufnahme eines Logos&#10;&#10;Beschreibung wird automatisch generiert">
            <a:extLst>
              <a:ext uri="{FF2B5EF4-FFF2-40B4-BE49-F238E27FC236}">
                <a16:creationId xmlns:a16="http://schemas.microsoft.com/office/drawing/2014/main" id="{F1A8C364-94D4-4630-BAD0-78722F347055}"/>
              </a:ext>
            </a:extLst>
          </p:cNvPr>
          <p:cNvPicPr>
            <a:picLocks noChangeAspect="1"/>
          </p:cNvPicPr>
          <p:nvPr/>
        </p:nvPicPr>
        <p:blipFill rotWithShape="1">
          <a:blip r:embed="rId2" cstate="hqprint">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1">
            <a:extLst>
              <a:ext uri="{FF2B5EF4-FFF2-40B4-BE49-F238E27FC236}">
                <a16:creationId xmlns:a16="http://schemas.microsoft.com/office/drawing/2014/main" id="{237B27AF-CE80-EFFB-3D76-D4DAC7A9D979}"/>
              </a:ext>
            </a:extLst>
          </p:cNvPr>
          <p:cNvSpPr txBox="1">
            <a:spLocks/>
          </p:cNvSpPr>
          <p:nvPr/>
        </p:nvSpPr>
        <p:spPr>
          <a:xfrm>
            <a:off x="733592" y="854556"/>
            <a:ext cx="10552475" cy="525511"/>
          </a:xfrm>
          <a:prstGeom prst="rect">
            <a:avLst/>
          </a:prstGeom>
        </p:spPr>
        <p:txBody>
          <a:bodyPr vert="horz" lIns="91440" tIns="45720" rIns="91440" bIns="45720" rtlCol="0" anchor="b">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de" dirty="0"/>
              <a:t>MotiVATIOn</a:t>
            </a:r>
          </a:p>
        </p:txBody>
      </p:sp>
      <p:sp>
        <p:nvSpPr>
          <p:cNvPr id="7" name="TextBox 6">
            <a:extLst>
              <a:ext uri="{FF2B5EF4-FFF2-40B4-BE49-F238E27FC236}">
                <a16:creationId xmlns:a16="http://schemas.microsoft.com/office/drawing/2014/main" id="{7261981E-2D3B-BF66-32B6-5ED57C4526B4}"/>
              </a:ext>
            </a:extLst>
          </p:cNvPr>
          <p:cNvSpPr txBox="1"/>
          <p:nvPr/>
        </p:nvSpPr>
        <p:spPr>
          <a:xfrm>
            <a:off x="819762" y="1348355"/>
            <a:ext cx="10552475" cy="923330"/>
          </a:xfrm>
          <a:prstGeom prst="rect">
            <a:avLst/>
          </a:prstGeom>
          <a:noFill/>
        </p:spPr>
        <p:txBody>
          <a:bodyPr wrap="square" rtlCol="0">
            <a:spAutoFit/>
          </a:bodyPr>
          <a:lstStyle/>
          <a:p>
            <a:r>
              <a:rPr lang="en-US" dirty="0"/>
              <a:t>Using LSTM (Long Short-Term Memory) networks for S&amp;P 500 stock prediction offers a compelling advantage due to LSTM's ability to handle time-series data, capturing both short-term patterns and long-term dependencies, which are essential for financial forecasting. </a:t>
            </a:r>
            <a:endParaRPr lang="de-DE" dirty="0"/>
          </a:p>
        </p:txBody>
      </p:sp>
      <p:sp>
        <p:nvSpPr>
          <p:cNvPr id="9" name="TextBox 8">
            <a:extLst>
              <a:ext uri="{FF2B5EF4-FFF2-40B4-BE49-F238E27FC236}">
                <a16:creationId xmlns:a16="http://schemas.microsoft.com/office/drawing/2014/main" id="{C6091451-949A-341D-4B52-CA9754FEA6B6}"/>
              </a:ext>
            </a:extLst>
          </p:cNvPr>
          <p:cNvSpPr txBox="1"/>
          <p:nvPr/>
        </p:nvSpPr>
        <p:spPr>
          <a:xfrm>
            <a:off x="733592" y="3994298"/>
            <a:ext cx="10279092" cy="1477328"/>
          </a:xfrm>
          <a:prstGeom prst="rect">
            <a:avLst/>
          </a:prstGeom>
          <a:noFill/>
        </p:spPr>
        <p:txBody>
          <a:bodyPr wrap="square" rtlCol="0">
            <a:spAutoFit/>
          </a:bodyPr>
          <a:lstStyle/>
          <a:p>
            <a:r>
              <a:rPr lang="en-US" b="1" dirty="0"/>
              <a:t>1. Capturing Temporal Dependencies</a:t>
            </a:r>
          </a:p>
          <a:p>
            <a:r>
              <a:rPr lang="en-US" dirty="0"/>
              <a:t>Stock prices are sequential, influenced by past movements, trends, and events. Unlike traditional neural networks, LSTM networks are designed to retain information across time steps, effectively learning from both recent and historical data. This ability to remember previous information over long sequences is crucial for predicting stock prices, where short- and long-term patterns both matter.</a:t>
            </a:r>
          </a:p>
        </p:txBody>
      </p:sp>
      <p:sp>
        <p:nvSpPr>
          <p:cNvPr id="10" name="TextBox 9">
            <a:extLst>
              <a:ext uri="{FF2B5EF4-FFF2-40B4-BE49-F238E27FC236}">
                <a16:creationId xmlns:a16="http://schemas.microsoft.com/office/drawing/2014/main" id="{ED05751B-B6AD-E000-765E-6B82F26A37FC}"/>
              </a:ext>
            </a:extLst>
          </p:cNvPr>
          <p:cNvSpPr txBox="1"/>
          <p:nvPr/>
        </p:nvSpPr>
        <p:spPr>
          <a:xfrm>
            <a:off x="733592" y="5380672"/>
            <a:ext cx="10552475" cy="1477328"/>
          </a:xfrm>
          <a:prstGeom prst="rect">
            <a:avLst/>
          </a:prstGeom>
          <a:noFill/>
        </p:spPr>
        <p:txBody>
          <a:bodyPr wrap="square" rtlCol="0">
            <a:spAutoFit/>
          </a:bodyPr>
          <a:lstStyle/>
          <a:p>
            <a:r>
              <a:rPr lang="en-US" b="1" dirty="0"/>
              <a:t>2. Handling Non-Stationary Data</a:t>
            </a:r>
          </a:p>
          <a:p>
            <a:r>
              <a:rPr lang="en-US" dirty="0"/>
              <a:t>Financial markets are highly volatile, with non-stationary data affected by macroeconomic factors, news, and investor sentiment. LSTMs are robust to such variations, adapting to changes over time and capturing complex, non-linear relationships within the data. This flexibility makes LSTM models more adept at identifying and responding to shifting market conditions</a:t>
            </a:r>
          </a:p>
        </p:txBody>
      </p:sp>
      <p:sp>
        <p:nvSpPr>
          <p:cNvPr id="11" name="TextBox 10">
            <a:extLst>
              <a:ext uri="{FF2B5EF4-FFF2-40B4-BE49-F238E27FC236}">
                <a16:creationId xmlns:a16="http://schemas.microsoft.com/office/drawing/2014/main" id="{E79582B0-2DE4-C4B1-0C71-2756B129FA1E}"/>
              </a:ext>
            </a:extLst>
          </p:cNvPr>
          <p:cNvSpPr txBox="1"/>
          <p:nvPr/>
        </p:nvSpPr>
        <p:spPr>
          <a:xfrm>
            <a:off x="819762" y="2239973"/>
            <a:ext cx="10998199" cy="1754326"/>
          </a:xfrm>
          <a:prstGeom prst="rect">
            <a:avLst/>
          </a:prstGeom>
          <a:noFill/>
        </p:spPr>
        <p:txBody>
          <a:bodyPr wrap="square" rtlCol="0">
            <a:spAutoFit/>
          </a:bodyPr>
          <a:lstStyle/>
          <a:p>
            <a:r>
              <a:rPr lang="de-DE" dirty="0"/>
              <a:t>The </a:t>
            </a:r>
            <a:r>
              <a:rPr lang="de-DE" dirty="0" err="1"/>
              <a:t>primary</a:t>
            </a:r>
            <a:r>
              <a:rPr lang="de-DE" dirty="0"/>
              <a:t> </a:t>
            </a:r>
            <a:r>
              <a:rPr lang="de-DE" dirty="0" err="1"/>
              <a:t>objective</a:t>
            </a:r>
            <a:r>
              <a:rPr lang="de-DE" dirty="0"/>
              <a:t> </a:t>
            </a:r>
            <a:r>
              <a:rPr lang="de-DE" dirty="0" err="1"/>
              <a:t>of</a:t>
            </a:r>
            <a:r>
              <a:rPr lang="de-DE" dirty="0"/>
              <a:t> </a:t>
            </a:r>
            <a:r>
              <a:rPr lang="de-DE" dirty="0" err="1"/>
              <a:t>the</a:t>
            </a:r>
            <a:r>
              <a:rPr lang="de-DE" dirty="0"/>
              <a:t> stock </a:t>
            </a:r>
            <a:r>
              <a:rPr lang="de-DE" dirty="0" err="1"/>
              <a:t>prediction</a:t>
            </a:r>
            <a:r>
              <a:rPr lang="de-DE" dirty="0"/>
              <a:t> </a:t>
            </a:r>
            <a:r>
              <a:rPr lang="de-DE" dirty="0" err="1"/>
              <a:t>using</a:t>
            </a:r>
            <a:r>
              <a:rPr lang="de-DE" dirty="0"/>
              <a:t> LSTM </a:t>
            </a:r>
            <a:r>
              <a:rPr lang="de-DE" dirty="0" err="1"/>
              <a:t>is</a:t>
            </a:r>
            <a:r>
              <a:rPr lang="de-DE" dirty="0"/>
              <a:t> </a:t>
            </a:r>
            <a:r>
              <a:rPr lang="de-DE" dirty="0" err="1"/>
              <a:t>to</a:t>
            </a:r>
            <a:r>
              <a:rPr lang="de-DE" dirty="0"/>
              <a:t> </a:t>
            </a:r>
            <a:r>
              <a:rPr lang="de-DE" dirty="0" err="1"/>
              <a:t>forecast</a:t>
            </a:r>
            <a:r>
              <a:rPr lang="de-DE" dirty="0"/>
              <a:t> </a:t>
            </a:r>
            <a:r>
              <a:rPr lang="de-DE" dirty="0" err="1"/>
              <a:t>future</a:t>
            </a:r>
            <a:r>
              <a:rPr lang="de-DE" dirty="0"/>
              <a:t> </a:t>
            </a:r>
            <a:r>
              <a:rPr lang="de-DE" dirty="0" err="1"/>
              <a:t>prices</a:t>
            </a:r>
            <a:r>
              <a:rPr lang="de-DE" dirty="0"/>
              <a:t> </a:t>
            </a:r>
            <a:r>
              <a:rPr lang="de-DE" dirty="0" err="1"/>
              <a:t>or</a:t>
            </a:r>
            <a:r>
              <a:rPr lang="de-DE" dirty="0"/>
              <a:t> </a:t>
            </a:r>
            <a:r>
              <a:rPr lang="de-DE" dirty="0" err="1"/>
              <a:t>trends</a:t>
            </a:r>
            <a:r>
              <a:rPr lang="de-DE" dirty="0"/>
              <a:t> in </a:t>
            </a:r>
            <a:r>
              <a:rPr lang="de-DE" dirty="0" err="1"/>
              <a:t>the</a:t>
            </a:r>
            <a:r>
              <a:rPr lang="de-DE" dirty="0"/>
              <a:t> stock </a:t>
            </a:r>
            <a:r>
              <a:rPr lang="de-DE" dirty="0" err="1"/>
              <a:t>market</a:t>
            </a:r>
            <a:r>
              <a:rPr lang="de-DE" dirty="0"/>
              <a:t> (</a:t>
            </a:r>
            <a:r>
              <a:rPr lang="de-DE" dirty="0" err="1"/>
              <a:t>objectives</a:t>
            </a:r>
            <a:r>
              <a:rPr lang="de-DE" dirty="0"/>
              <a:t> </a:t>
            </a:r>
            <a:r>
              <a:rPr lang="de-DE" dirty="0" err="1"/>
              <a:t>can</a:t>
            </a:r>
            <a:r>
              <a:rPr lang="de-DE" dirty="0"/>
              <a:t> </a:t>
            </a:r>
            <a:r>
              <a:rPr lang="de-DE" dirty="0" err="1"/>
              <a:t>be</a:t>
            </a:r>
            <a:r>
              <a:rPr lang="de-DE" dirty="0"/>
              <a:t>) </a:t>
            </a:r>
          </a:p>
          <a:p>
            <a:pPr marL="342900" indent="-342900">
              <a:buAutoNum type="arabicPeriod"/>
            </a:pPr>
            <a:r>
              <a:rPr lang="de-DE" dirty="0"/>
              <a:t>Short Term </a:t>
            </a:r>
            <a:r>
              <a:rPr lang="de-DE" dirty="0" err="1"/>
              <a:t>prediction</a:t>
            </a:r>
            <a:endParaRPr lang="de-DE" dirty="0"/>
          </a:p>
          <a:p>
            <a:pPr marL="342900" indent="-342900">
              <a:buAutoNum type="arabicPeriod" startAt="2"/>
            </a:pPr>
            <a:r>
              <a:rPr lang="de-DE" dirty="0"/>
              <a:t>Long Term </a:t>
            </a:r>
            <a:r>
              <a:rPr lang="de-DE" dirty="0" err="1"/>
              <a:t>prediction</a:t>
            </a:r>
            <a:r>
              <a:rPr lang="de-DE" dirty="0"/>
              <a:t> </a:t>
            </a:r>
          </a:p>
          <a:p>
            <a:pPr marL="342900" indent="-342900">
              <a:buAutoNum type="arabicPeriod" startAt="3"/>
            </a:pPr>
            <a:r>
              <a:rPr lang="de-DE" dirty="0"/>
              <a:t>Risk </a:t>
            </a:r>
            <a:r>
              <a:rPr lang="de-DE" dirty="0" err="1"/>
              <a:t>management</a:t>
            </a:r>
            <a:r>
              <a:rPr lang="de-DE" dirty="0"/>
              <a:t> </a:t>
            </a:r>
          </a:p>
          <a:p>
            <a:pPr marL="342900" indent="-342900">
              <a:buAutoNum type="arabicPeriod" startAt="3"/>
            </a:pPr>
            <a:r>
              <a:rPr lang="de-DE" dirty="0"/>
              <a:t>Market </a:t>
            </a:r>
            <a:r>
              <a:rPr lang="de-DE" dirty="0" err="1"/>
              <a:t>analysis</a:t>
            </a:r>
            <a:endParaRPr lang="de-DE" dirty="0"/>
          </a:p>
        </p:txBody>
      </p:sp>
    </p:spTree>
    <p:extLst>
      <p:ext uri="{BB962C8B-B14F-4D97-AF65-F5344CB8AC3E}">
        <p14:creationId xmlns:p14="http://schemas.microsoft.com/office/powerpoint/2010/main" val="2637846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84274-41DC-5578-3326-01DFC582D70E}"/>
            </a:ext>
          </a:extLst>
        </p:cNvPr>
        <p:cNvGrpSpPr/>
        <p:nvPr/>
      </p:nvGrpSpPr>
      <p:grpSpPr>
        <a:xfrm>
          <a:off x="0" y="0"/>
          <a:ext cx="0" cy="0"/>
          <a:chOff x="0" y="0"/>
          <a:chExt cx="0" cy="0"/>
        </a:xfrm>
      </p:grpSpPr>
      <p:sp>
        <p:nvSpPr>
          <p:cNvPr id="6" name="Titel 1">
            <a:extLst>
              <a:ext uri="{FF2B5EF4-FFF2-40B4-BE49-F238E27FC236}">
                <a16:creationId xmlns:a16="http://schemas.microsoft.com/office/drawing/2014/main" id="{0E505D7C-DADA-19DA-3138-1CD9D0AC5A9B}"/>
              </a:ext>
            </a:extLst>
          </p:cNvPr>
          <p:cNvSpPr txBox="1">
            <a:spLocks/>
          </p:cNvSpPr>
          <p:nvPr/>
        </p:nvSpPr>
        <p:spPr>
          <a:xfrm>
            <a:off x="733592" y="854556"/>
            <a:ext cx="10552475" cy="525511"/>
          </a:xfrm>
          <a:prstGeom prst="rect">
            <a:avLst/>
          </a:prstGeom>
        </p:spPr>
        <p:txBody>
          <a:bodyPr vert="horz" lIns="91440" tIns="45720" rIns="91440" bIns="45720" rtlCol="0" anchor="b">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de" dirty="0"/>
              <a:t>MotiVATIOn</a:t>
            </a:r>
          </a:p>
        </p:txBody>
      </p:sp>
      <p:sp>
        <p:nvSpPr>
          <p:cNvPr id="7" name="TextBox 6">
            <a:extLst>
              <a:ext uri="{FF2B5EF4-FFF2-40B4-BE49-F238E27FC236}">
                <a16:creationId xmlns:a16="http://schemas.microsoft.com/office/drawing/2014/main" id="{B42BCD10-F90B-C8A7-E765-DF0217090000}"/>
              </a:ext>
            </a:extLst>
          </p:cNvPr>
          <p:cNvSpPr txBox="1"/>
          <p:nvPr/>
        </p:nvSpPr>
        <p:spPr>
          <a:xfrm>
            <a:off x="855133" y="1495397"/>
            <a:ext cx="10552475" cy="2031325"/>
          </a:xfrm>
          <a:prstGeom prst="rect">
            <a:avLst/>
          </a:prstGeom>
          <a:noFill/>
        </p:spPr>
        <p:txBody>
          <a:bodyPr wrap="square" rtlCol="0">
            <a:spAutoFit/>
          </a:bodyPr>
          <a:lstStyle/>
          <a:p>
            <a:r>
              <a:rPr lang="en-US" b="1" dirty="0"/>
              <a:t>ANALYSIS OF WORK</a:t>
            </a:r>
          </a:p>
          <a:p>
            <a:r>
              <a:rPr lang="en-US" b="1" dirty="0"/>
              <a:t>3. Reducing the Risk of Overfitting</a:t>
            </a:r>
          </a:p>
          <a:p>
            <a:r>
              <a:rPr lang="en-US" dirty="0"/>
              <a:t>LSTM’s internal memory mechanism selectively retains or forgets information, helping the model focus on relevant data points without relying too heavily on noise. This is particularly important in stock price prediction, where spurious patterns can mislead simpler models into overfitting. The selective memory of LSTMs enhances their generalization ability, reducing the risk of overfitting on volatile stock data.</a:t>
            </a:r>
          </a:p>
          <a:p>
            <a:endParaRPr lang="de-DE" dirty="0"/>
          </a:p>
        </p:txBody>
      </p:sp>
      <p:sp>
        <p:nvSpPr>
          <p:cNvPr id="9" name="TextBox 8">
            <a:extLst>
              <a:ext uri="{FF2B5EF4-FFF2-40B4-BE49-F238E27FC236}">
                <a16:creationId xmlns:a16="http://schemas.microsoft.com/office/drawing/2014/main" id="{3A2FB19F-4784-8D86-6A3A-893890E49E67}"/>
              </a:ext>
            </a:extLst>
          </p:cNvPr>
          <p:cNvSpPr txBox="1"/>
          <p:nvPr/>
        </p:nvSpPr>
        <p:spPr>
          <a:xfrm>
            <a:off x="855133" y="3210343"/>
            <a:ext cx="10552475" cy="1754326"/>
          </a:xfrm>
          <a:prstGeom prst="rect">
            <a:avLst/>
          </a:prstGeom>
          <a:noFill/>
        </p:spPr>
        <p:txBody>
          <a:bodyPr wrap="square" rtlCol="0">
            <a:spAutoFit/>
          </a:bodyPr>
          <a:lstStyle/>
          <a:p>
            <a:r>
              <a:rPr lang="en-US" b="1" dirty="0"/>
              <a:t>4. Incorporating Multiple Inputs for a Holistic View</a:t>
            </a:r>
          </a:p>
          <a:p>
            <a:r>
              <a:rPr lang="en-US" dirty="0"/>
              <a:t>Stock prices are influenced by a variety of features, such as past prices, trading volume, macroeconomic indicators, and market sentiment. LSTM models can incorporate these multiple input features over time, creating a richer, more holistic model that combines diverse sources of information. This leads to more accurate predictions by factoring in complex interactions.</a:t>
            </a:r>
          </a:p>
          <a:p>
            <a:endParaRPr lang="en-US" dirty="0"/>
          </a:p>
        </p:txBody>
      </p:sp>
      <p:sp>
        <p:nvSpPr>
          <p:cNvPr id="10" name="TextBox 9">
            <a:extLst>
              <a:ext uri="{FF2B5EF4-FFF2-40B4-BE49-F238E27FC236}">
                <a16:creationId xmlns:a16="http://schemas.microsoft.com/office/drawing/2014/main" id="{0BAA114D-DA1D-9916-E4B7-D546D854842A}"/>
              </a:ext>
            </a:extLst>
          </p:cNvPr>
          <p:cNvSpPr txBox="1"/>
          <p:nvPr/>
        </p:nvSpPr>
        <p:spPr>
          <a:xfrm>
            <a:off x="784392" y="4837669"/>
            <a:ext cx="10552475" cy="1477328"/>
          </a:xfrm>
          <a:prstGeom prst="rect">
            <a:avLst/>
          </a:prstGeom>
          <a:noFill/>
        </p:spPr>
        <p:txBody>
          <a:bodyPr wrap="square" rtlCol="0">
            <a:spAutoFit/>
          </a:bodyPr>
          <a:lstStyle/>
          <a:p>
            <a:r>
              <a:rPr lang="en-US" b="1" dirty="0"/>
              <a:t>5. Proven Effectiveness in Financial Time-Series Prediction</a:t>
            </a:r>
          </a:p>
          <a:p>
            <a:r>
              <a:rPr lang="en-US" dirty="0"/>
              <a:t>LSTM networks have been widely used in financial applications with success in capturing price trends, volatility, and market cycles. Their application in stock prediction aligns well with research showing that LSTMs outperform many traditional and other machine learning models in time-series tasks, especially for data with long-term dependencies like stock prices.</a:t>
            </a:r>
          </a:p>
        </p:txBody>
      </p:sp>
    </p:spTree>
    <p:extLst>
      <p:ext uri="{BB962C8B-B14F-4D97-AF65-F5344CB8AC3E}">
        <p14:creationId xmlns:p14="http://schemas.microsoft.com/office/powerpoint/2010/main" val="3972682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86A84-FCA5-B37D-1943-8736AE8693E1}"/>
            </a:ext>
          </a:extLst>
        </p:cNvPr>
        <p:cNvGrpSpPr/>
        <p:nvPr/>
      </p:nvGrpSpPr>
      <p:grpSpPr>
        <a:xfrm>
          <a:off x="0" y="0"/>
          <a:ext cx="0" cy="0"/>
          <a:chOff x="0" y="0"/>
          <a:chExt cx="0" cy="0"/>
        </a:xfrm>
      </p:grpSpPr>
      <p:sp>
        <p:nvSpPr>
          <p:cNvPr id="6" name="Titel 1">
            <a:extLst>
              <a:ext uri="{FF2B5EF4-FFF2-40B4-BE49-F238E27FC236}">
                <a16:creationId xmlns:a16="http://schemas.microsoft.com/office/drawing/2014/main" id="{A207F4D0-DEA3-6377-E74D-56AC013102DE}"/>
              </a:ext>
            </a:extLst>
          </p:cNvPr>
          <p:cNvSpPr txBox="1">
            <a:spLocks/>
          </p:cNvSpPr>
          <p:nvPr/>
        </p:nvSpPr>
        <p:spPr>
          <a:xfrm>
            <a:off x="733592" y="854556"/>
            <a:ext cx="10552475" cy="525511"/>
          </a:xfrm>
          <a:prstGeom prst="rect">
            <a:avLst/>
          </a:prstGeom>
        </p:spPr>
        <p:txBody>
          <a:bodyPr vert="horz" lIns="91440" tIns="45720" rIns="91440" bIns="45720" rtlCol="0" anchor="b">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de" dirty="0"/>
              <a:t>BESCHREIBUNG Der Daten / Description of The Data</a:t>
            </a:r>
          </a:p>
        </p:txBody>
      </p:sp>
      <p:sp>
        <p:nvSpPr>
          <p:cNvPr id="8" name="TextBox 7">
            <a:extLst>
              <a:ext uri="{FF2B5EF4-FFF2-40B4-BE49-F238E27FC236}">
                <a16:creationId xmlns:a16="http://schemas.microsoft.com/office/drawing/2014/main" id="{263729B0-F70E-3EA8-B03E-18110D35E8AE}"/>
              </a:ext>
            </a:extLst>
          </p:cNvPr>
          <p:cNvSpPr txBox="1"/>
          <p:nvPr/>
        </p:nvSpPr>
        <p:spPr>
          <a:xfrm>
            <a:off x="733592" y="1380067"/>
            <a:ext cx="5819608" cy="5493812"/>
          </a:xfrm>
          <a:prstGeom prst="rect">
            <a:avLst/>
          </a:prstGeom>
          <a:noFill/>
        </p:spPr>
        <p:txBody>
          <a:bodyPr wrap="square" rtlCol="0">
            <a:spAutoFit/>
          </a:bodyPr>
          <a:lstStyle/>
          <a:p>
            <a:r>
              <a:rPr lang="en-US" sz="900" dirty="0"/>
              <a:t>Key Columns in Yahoo Finance S&amp;P 500 Data</a:t>
            </a:r>
          </a:p>
          <a:p>
            <a:r>
              <a:rPr lang="en-US" sz="900" dirty="0"/>
              <a:t>Date</a:t>
            </a:r>
          </a:p>
          <a:p>
            <a:endParaRPr lang="en-US" sz="900" dirty="0"/>
          </a:p>
          <a:p>
            <a:r>
              <a:rPr lang="en-US" sz="900" dirty="0"/>
              <a:t>Description: The specific date for each record.</a:t>
            </a:r>
          </a:p>
          <a:p>
            <a:r>
              <a:rPr lang="en-US" sz="900" dirty="0"/>
              <a:t>Format: YYYY-MM-DD.</a:t>
            </a:r>
          </a:p>
          <a:p>
            <a:r>
              <a:rPr lang="en-US" sz="900" dirty="0"/>
              <a:t>Example: 2024-11-06.</a:t>
            </a:r>
          </a:p>
          <a:p>
            <a:r>
              <a:rPr lang="en-US" sz="900" dirty="0"/>
              <a:t>Open</a:t>
            </a:r>
          </a:p>
          <a:p>
            <a:endParaRPr lang="en-US" sz="900" dirty="0"/>
          </a:p>
          <a:p>
            <a:r>
              <a:rPr lang="en-US" sz="900" dirty="0"/>
              <a:t>Description: The price at which the S&amp;P 500 index opened on that particular day.</a:t>
            </a:r>
          </a:p>
          <a:p>
            <a:r>
              <a:rPr lang="en-US" sz="900" dirty="0"/>
              <a:t>Type: Float (e.g., 4392.56).</a:t>
            </a:r>
          </a:p>
          <a:p>
            <a:r>
              <a:rPr lang="en-US" sz="900" dirty="0"/>
              <a:t>Example: 4400.22.</a:t>
            </a:r>
          </a:p>
          <a:p>
            <a:r>
              <a:rPr lang="en-US" sz="900" dirty="0"/>
              <a:t>High</a:t>
            </a:r>
          </a:p>
          <a:p>
            <a:endParaRPr lang="en-US" sz="900" dirty="0"/>
          </a:p>
          <a:p>
            <a:r>
              <a:rPr lang="en-US" sz="900" dirty="0"/>
              <a:t>Description: The highest price reached by the S&amp;P 500 during that day.</a:t>
            </a:r>
          </a:p>
          <a:p>
            <a:r>
              <a:rPr lang="en-US" sz="900" dirty="0"/>
              <a:t>Type: Float.</a:t>
            </a:r>
          </a:p>
          <a:p>
            <a:r>
              <a:rPr lang="en-US" sz="900" dirty="0"/>
              <a:t>Example: 4412.83.</a:t>
            </a:r>
          </a:p>
          <a:p>
            <a:r>
              <a:rPr lang="en-US" sz="900" dirty="0"/>
              <a:t>Low</a:t>
            </a:r>
          </a:p>
          <a:p>
            <a:endParaRPr lang="en-US" sz="900" dirty="0"/>
          </a:p>
          <a:p>
            <a:r>
              <a:rPr lang="en-US" sz="900" dirty="0"/>
              <a:t>Description: The lowest price reached by the S&amp;P 500 during that day.</a:t>
            </a:r>
          </a:p>
          <a:p>
            <a:r>
              <a:rPr lang="en-US" sz="900" dirty="0"/>
              <a:t>Type: Float.</a:t>
            </a:r>
          </a:p>
          <a:p>
            <a:r>
              <a:rPr lang="en-US" sz="900" dirty="0"/>
              <a:t>Example: 4385.12.</a:t>
            </a:r>
          </a:p>
          <a:p>
            <a:r>
              <a:rPr lang="en-US" sz="900" dirty="0"/>
              <a:t>Close</a:t>
            </a:r>
          </a:p>
          <a:p>
            <a:endParaRPr lang="en-US" sz="900" dirty="0"/>
          </a:p>
          <a:p>
            <a:r>
              <a:rPr lang="en-US" sz="900" dirty="0"/>
              <a:t>Description: The final price at which the S&amp;P 500 closed on that day. This is often used as the main metric for analysis.</a:t>
            </a:r>
          </a:p>
          <a:p>
            <a:r>
              <a:rPr lang="en-US" sz="900" dirty="0"/>
              <a:t>Type: Float.</a:t>
            </a:r>
          </a:p>
          <a:p>
            <a:r>
              <a:rPr lang="en-US" sz="900" dirty="0"/>
              <a:t>Example: 4408.45.</a:t>
            </a:r>
          </a:p>
          <a:p>
            <a:r>
              <a:rPr lang="en-US" sz="900" dirty="0"/>
              <a:t>Adj Close</a:t>
            </a:r>
          </a:p>
          <a:p>
            <a:endParaRPr lang="en-US" sz="900" dirty="0"/>
          </a:p>
          <a:p>
            <a:r>
              <a:rPr lang="en-US" sz="900" dirty="0"/>
              <a:t>Description: The closing price adjusted for corporate actions like dividends, stock splits, etc. It provides a better historical comparison.</a:t>
            </a:r>
          </a:p>
          <a:p>
            <a:r>
              <a:rPr lang="en-US" sz="900" dirty="0"/>
              <a:t>Type: Float.</a:t>
            </a:r>
          </a:p>
          <a:p>
            <a:r>
              <a:rPr lang="en-US" sz="900" dirty="0"/>
              <a:t>Example: 4408.45.</a:t>
            </a:r>
          </a:p>
          <a:p>
            <a:r>
              <a:rPr lang="en-US" sz="900" dirty="0"/>
              <a:t>Volume</a:t>
            </a:r>
          </a:p>
          <a:p>
            <a:endParaRPr lang="en-US" sz="900" dirty="0"/>
          </a:p>
          <a:p>
            <a:r>
              <a:rPr lang="en-US" sz="900" dirty="0"/>
              <a:t>Description: The total number of shares traded during that day. For indices like the S&amp;P 500, this reflects the combined trading volume of the component stocks.</a:t>
            </a:r>
          </a:p>
          <a:p>
            <a:r>
              <a:rPr lang="en-US" sz="900" dirty="0"/>
              <a:t>Type: Integer.</a:t>
            </a:r>
          </a:p>
          <a:p>
            <a:r>
              <a:rPr lang="en-US" sz="900" dirty="0"/>
              <a:t>Example: 3500000000 (3.5 billion shares).</a:t>
            </a:r>
            <a:endParaRPr lang="de-DE" sz="900" dirty="0"/>
          </a:p>
        </p:txBody>
      </p:sp>
    </p:spTree>
    <p:extLst>
      <p:ext uri="{BB962C8B-B14F-4D97-AF65-F5344CB8AC3E}">
        <p14:creationId xmlns:p14="http://schemas.microsoft.com/office/powerpoint/2010/main" val="7408544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D59E6-0228-66D4-E71A-027F98D8D6CF}"/>
            </a:ext>
          </a:extLst>
        </p:cNvPr>
        <p:cNvGrpSpPr/>
        <p:nvPr/>
      </p:nvGrpSpPr>
      <p:grpSpPr>
        <a:xfrm>
          <a:off x="0" y="0"/>
          <a:ext cx="0" cy="0"/>
          <a:chOff x="0" y="0"/>
          <a:chExt cx="0" cy="0"/>
        </a:xfrm>
      </p:grpSpPr>
      <p:sp>
        <p:nvSpPr>
          <p:cNvPr id="6" name="Titel 1">
            <a:extLst>
              <a:ext uri="{FF2B5EF4-FFF2-40B4-BE49-F238E27FC236}">
                <a16:creationId xmlns:a16="http://schemas.microsoft.com/office/drawing/2014/main" id="{3F19A67F-CB79-7619-57BB-14175A513F3A}"/>
              </a:ext>
            </a:extLst>
          </p:cNvPr>
          <p:cNvSpPr txBox="1">
            <a:spLocks/>
          </p:cNvSpPr>
          <p:nvPr/>
        </p:nvSpPr>
        <p:spPr>
          <a:xfrm>
            <a:off x="733592" y="854556"/>
            <a:ext cx="10552475" cy="525511"/>
          </a:xfrm>
          <a:prstGeom prst="rect">
            <a:avLst/>
          </a:prstGeom>
        </p:spPr>
        <p:txBody>
          <a:bodyPr vert="horz" lIns="91440" tIns="45720" rIns="91440" bIns="45720" rtlCol="0" anchor="b">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de" dirty="0"/>
              <a:t>BESCHREIBUNG Der Daten / Description of The Data</a:t>
            </a:r>
          </a:p>
        </p:txBody>
      </p:sp>
      <p:sp>
        <p:nvSpPr>
          <p:cNvPr id="2" name="TextBox 1">
            <a:extLst>
              <a:ext uri="{FF2B5EF4-FFF2-40B4-BE49-F238E27FC236}">
                <a16:creationId xmlns:a16="http://schemas.microsoft.com/office/drawing/2014/main" id="{32CFCCD7-8137-7992-58DD-BF6B088CD8EE}"/>
              </a:ext>
            </a:extLst>
          </p:cNvPr>
          <p:cNvSpPr txBox="1"/>
          <p:nvPr/>
        </p:nvSpPr>
        <p:spPr>
          <a:xfrm>
            <a:off x="838200" y="1727200"/>
            <a:ext cx="11023600" cy="1754326"/>
          </a:xfrm>
          <a:prstGeom prst="rect">
            <a:avLst/>
          </a:prstGeom>
          <a:noFill/>
        </p:spPr>
        <p:txBody>
          <a:bodyPr wrap="square" rtlCol="0">
            <a:spAutoFit/>
          </a:bodyPr>
          <a:lstStyle/>
          <a:p>
            <a:r>
              <a:rPr lang="en-US" b="1" dirty="0"/>
              <a:t>Typical Data Usage in Modeling</a:t>
            </a:r>
          </a:p>
          <a:p>
            <a:pPr>
              <a:buFont typeface="Arial" panose="020B0604020202020204" pitchFamily="34" charset="0"/>
              <a:buChar char="•"/>
            </a:pPr>
            <a:r>
              <a:rPr lang="en-US" b="1" dirty="0"/>
              <a:t>Date</a:t>
            </a:r>
            <a:r>
              <a:rPr lang="en-US" dirty="0"/>
              <a:t>: Used as the index for time-series analysis.</a:t>
            </a:r>
          </a:p>
          <a:p>
            <a:pPr>
              <a:buFont typeface="Arial" panose="020B0604020202020204" pitchFamily="34" charset="0"/>
              <a:buChar char="•"/>
            </a:pPr>
            <a:r>
              <a:rPr lang="en-US" b="1" dirty="0"/>
              <a:t>Close and Adj Close</a:t>
            </a:r>
            <a:r>
              <a:rPr lang="en-US" dirty="0"/>
              <a:t>: Commonly used for predictive modeling and analysis.</a:t>
            </a:r>
          </a:p>
          <a:p>
            <a:pPr>
              <a:buFont typeface="Arial" panose="020B0604020202020204" pitchFamily="34" charset="0"/>
              <a:buChar char="•"/>
            </a:pPr>
            <a:r>
              <a:rPr lang="en-US" b="1" dirty="0"/>
              <a:t>High, Low, Open</a:t>
            </a:r>
            <a:r>
              <a:rPr lang="en-US" dirty="0"/>
              <a:t>: Sometimes used for calculating indicators like daily range, volatility, or candlestick patterns.</a:t>
            </a:r>
          </a:p>
          <a:p>
            <a:pPr>
              <a:buFont typeface="Arial" panose="020B0604020202020204" pitchFamily="34" charset="0"/>
              <a:buChar char="•"/>
            </a:pPr>
            <a:r>
              <a:rPr lang="en-US" b="1" dirty="0"/>
              <a:t>Volume</a:t>
            </a:r>
            <a:r>
              <a:rPr lang="en-US" dirty="0"/>
              <a:t>: Used as an additional feature to understand trading activity, which can indicate market sentiment.</a:t>
            </a:r>
          </a:p>
          <a:p>
            <a:endParaRPr lang="de-DE" dirty="0"/>
          </a:p>
        </p:txBody>
      </p:sp>
      <p:pic>
        <p:nvPicPr>
          <p:cNvPr id="7" name="Picture 6">
            <a:extLst>
              <a:ext uri="{FF2B5EF4-FFF2-40B4-BE49-F238E27FC236}">
                <a16:creationId xmlns:a16="http://schemas.microsoft.com/office/drawing/2014/main" id="{F60D8760-52D2-55CE-71FC-51E0D6E36BC5}"/>
              </a:ext>
            </a:extLst>
          </p:cNvPr>
          <p:cNvPicPr>
            <a:picLocks noChangeAspect="1"/>
          </p:cNvPicPr>
          <p:nvPr/>
        </p:nvPicPr>
        <p:blipFill>
          <a:blip r:embed="rId2"/>
          <a:stretch>
            <a:fillRect/>
          </a:stretch>
        </p:blipFill>
        <p:spPr>
          <a:xfrm>
            <a:off x="960575" y="3339422"/>
            <a:ext cx="10393225" cy="2143424"/>
          </a:xfrm>
          <a:prstGeom prst="rect">
            <a:avLst/>
          </a:prstGeom>
        </p:spPr>
      </p:pic>
    </p:spTree>
    <p:extLst>
      <p:ext uri="{BB962C8B-B14F-4D97-AF65-F5344CB8AC3E}">
        <p14:creationId xmlns:p14="http://schemas.microsoft.com/office/powerpoint/2010/main" val="2450588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A2E4B-D7DA-8490-555E-E941BE7086A4}"/>
            </a:ext>
          </a:extLst>
        </p:cNvPr>
        <p:cNvGrpSpPr/>
        <p:nvPr/>
      </p:nvGrpSpPr>
      <p:grpSpPr>
        <a:xfrm>
          <a:off x="0" y="0"/>
          <a:ext cx="0" cy="0"/>
          <a:chOff x="0" y="0"/>
          <a:chExt cx="0" cy="0"/>
        </a:xfrm>
      </p:grpSpPr>
      <p:sp>
        <p:nvSpPr>
          <p:cNvPr id="6" name="Titel 1">
            <a:extLst>
              <a:ext uri="{FF2B5EF4-FFF2-40B4-BE49-F238E27FC236}">
                <a16:creationId xmlns:a16="http://schemas.microsoft.com/office/drawing/2014/main" id="{FBB2FAAA-17CE-E82A-AD5D-347A52038FCF}"/>
              </a:ext>
            </a:extLst>
          </p:cNvPr>
          <p:cNvSpPr txBox="1">
            <a:spLocks/>
          </p:cNvSpPr>
          <p:nvPr/>
        </p:nvSpPr>
        <p:spPr>
          <a:xfrm>
            <a:off x="733592" y="854556"/>
            <a:ext cx="10552475" cy="525511"/>
          </a:xfrm>
          <a:prstGeom prst="rect">
            <a:avLst/>
          </a:prstGeom>
        </p:spPr>
        <p:txBody>
          <a:bodyPr vert="horz" lIns="91440" tIns="45720" rIns="91440" bIns="45720" rtlCol="0" anchor="b">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de" dirty="0"/>
              <a:t>BESCHREIBUNG Der Daten / Description of The Data</a:t>
            </a:r>
          </a:p>
        </p:txBody>
      </p:sp>
      <p:pic>
        <p:nvPicPr>
          <p:cNvPr id="11" name="Picture 10">
            <a:extLst>
              <a:ext uri="{FF2B5EF4-FFF2-40B4-BE49-F238E27FC236}">
                <a16:creationId xmlns:a16="http://schemas.microsoft.com/office/drawing/2014/main" id="{FB4D4C6F-95B5-DEC5-9C59-26993C2556C2}"/>
              </a:ext>
            </a:extLst>
          </p:cNvPr>
          <p:cNvPicPr>
            <a:picLocks noChangeAspect="1"/>
          </p:cNvPicPr>
          <p:nvPr/>
        </p:nvPicPr>
        <p:blipFill>
          <a:blip r:embed="rId2"/>
          <a:stretch>
            <a:fillRect/>
          </a:stretch>
        </p:blipFill>
        <p:spPr>
          <a:xfrm>
            <a:off x="1905000" y="1380067"/>
            <a:ext cx="7467600" cy="5390482"/>
          </a:xfrm>
          <a:prstGeom prst="rect">
            <a:avLst/>
          </a:prstGeom>
        </p:spPr>
      </p:pic>
    </p:spTree>
    <p:extLst>
      <p:ext uri="{BB962C8B-B14F-4D97-AF65-F5344CB8AC3E}">
        <p14:creationId xmlns:p14="http://schemas.microsoft.com/office/powerpoint/2010/main" val="37252187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DAF41-7A9E-D60F-0C54-53CD612AD7CB}"/>
            </a:ext>
          </a:extLst>
        </p:cNvPr>
        <p:cNvGrpSpPr/>
        <p:nvPr/>
      </p:nvGrpSpPr>
      <p:grpSpPr>
        <a:xfrm>
          <a:off x="0" y="0"/>
          <a:ext cx="0" cy="0"/>
          <a:chOff x="0" y="0"/>
          <a:chExt cx="0" cy="0"/>
        </a:xfrm>
      </p:grpSpPr>
      <p:sp>
        <p:nvSpPr>
          <p:cNvPr id="6" name="Titel 1">
            <a:extLst>
              <a:ext uri="{FF2B5EF4-FFF2-40B4-BE49-F238E27FC236}">
                <a16:creationId xmlns:a16="http://schemas.microsoft.com/office/drawing/2014/main" id="{C9275F68-7013-EC32-B4B2-C5AAF084B238}"/>
              </a:ext>
            </a:extLst>
          </p:cNvPr>
          <p:cNvSpPr txBox="1">
            <a:spLocks/>
          </p:cNvSpPr>
          <p:nvPr/>
        </p:nvSpPr>
        <p:spPr>
          <a:xfrm>
            <a:off x="733592" y="854556"/>
            <a:ext cx="10552475" cy="525511"/>
          </a:xfrm>
          <a:prstGeom prst="rect">
            <a:avLst/>
          </a:prstGeom>
        </p:spPr>
        <p:txBody>
          <a:bodyPr vert="horz" lIns="91440" tIns="45720" rIns="91440" bIns="45720" rtlCol="0" anchor="b">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de" dirty="0"/>
              <a:t>BESCHREIBUNG Der Daten / Description of The Data</a:t>
            </a:r>
          </a:p>
        </p:txBody>
      </p:sp>
      <p:pic>
        <p:nvPicPr>
          <p:cNvPr id="3" name="Picture 2">
            <a:extLst>
              <a:ext uri="{FF2B5EF4-FFF2-40B4-BE49-F238E27FC236}">
                <a16:creationId xmlns:a16="http://schemas.microsoft.com/office/drawing/2014/main" id="{C2876443-59BF-CD7C-33B7-5ECEB1383706}"/>
              </a:ext>
            </a:extLst>
          </p:cNvPr>
          <p:cNvPicPr>
            <a:picLocks noChangeAspect="1"/>
          </p:cNvPicPr>
          <p:nvPr/>
        </p:nvPicPr>
        <p:blipFill>
          <a:blip r:embed="rId2"/>
          <a:stretch>
            <a:fillRect/>
          </a:stretch>
        </p:blipFill>
        <p:spPr>
          <a:xfrm>
            <a:off x="412751" y="1380067"/>
            <a:ext cx="5371371" cy="2709333"/>
          </a:xfrm>
          <a:prstGeom prst="rect">
            <a:avLst/>
          </a:prstGeom>
        </p:spPr>
      </p:pic>
      <p:pic>
        <p:nvPicPr>
          <p:cNvPr id="5" name="Picture 4">
            <a:extLst>
              <a:ext uri="{FF2B5EF4-FFF2-40B4-BE49-F238E27FC236}">
                <a16:creationId xmlns:a16="http://schemas.microsoft.com/office/drawing/2014/main" id="{DB67B0FA-146A-067C-4C92-2DD078365B5D}"/>
              </a:ext>
            </a:extLst>
          </p:cNvPr>
          <p:cNvPicPr>
            <a:picLocks noChangeAspect="1"/>
          </p:cNvPicPr>
          <p:nvPr/>
        </p:nvPicPr>
        <p:blipFill>
          <a:blip r:embed="rId3"/>
          <a:stretch>
            <a:fillRect/>
          </a:stretch>
        </p:blipFill>
        <p:spPr>
          <a:xfrm>
            <a:off x="5847466" y="1380068"/>
            <a:ext cx="5438602" cy="4216399"/>
          </a:xfrm>
          <a:prstGeom prst="rect">
            <a:avLst/>
          </a:prstGeom>
        </p:spPr>
      </p:pic>
    </p:spTree>
    <p:extLst>
      <p:ext uri="{BB962C8B-B14F-4D97-AF65-F5344CB8AC3E}">
        <p14:creationId xmlns:p14="http://schemas.microsoft.com/office/powerpoint/2010/main" val="1206023226"/>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_41798788_TF33552983" id="{576DBA50-8B91-4A4D-83D9-7E9D2BF5E738}" vid="{40B35DA9-BDA0-45AF-A640-2DB6EA94DA72}"/>
    </a:ext>
  </a:ext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{ECD46654-9FEA-4E3C-9042-5227DF681104}tf33552983_win32</Template>
  <TotalTime>0</TotalTime>
  <Words>759</Words>
  <Application>Microsoft Office PowerPoint</Application>
  <PresentationFormat>Widescreen</PresentationFormat>
  <Paragraphs>66</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Franklin Gothic Book</vt:lpstr>
      <vt:lpstr>Franklin Gothic Demi</vt:lpstr>
      <vt:lpstr>Wingdings 2</vt:lpstr>
      <vt:lpstr>DividendVTI</vt:lpstr>
      <vt:lpstr>S&amp;P 500 Stock Price Prediction using LSTM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Brian Hodgson</dc:creator>
  <cp:lastModifiedBy>Brian Hodgson</cp:lastModifiedBy>
  <cp:revision>2</cp:revision>
  <dcterms:created xsi:type="dcterms:W3CDTF">2024-11-06T09:38:37Z</dcterms:created>
  <dcterms:modified xsi:type="dcterms:W3CDTF">2024-11-08T15:31:30Z</dcterms:modified>
</cp:coreProperties>
</file>